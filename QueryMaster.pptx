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2F2F"/>
    <a:srgbClr val="D97757"/>
    <a:srgbClr val="42423E"/>
    <a:srgbClr val="FBF9F5"/>
    <a:srgbClr val="6B6B6B"/>
    <a:srgbClr val="F8F5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06"/>
    <p:restoredTop sz="94553"/>
  </p:normalViewPr>
  <p:slideViewPr>
    <p:cSldViewPr snapToGrid="0">
      <p:cViewPr>
        <p:scale>
          <a:sx n="70" d="100"/>
          <a:sy n="70" d="100"/>
        </p:scale>
        <p:origin x="2912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4BF01F3-1602-7994-A4FF-CB6697C62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AC6F95B-865E-6C41-E59B-35519BC83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5359162-5A20-B66F-100C-23DA8CB0E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9615-1357-124F-931B-A0F0CCC5ECC6}" type="datetimeFigureOut">
              <a:rPr lang="tr-TR" smtClean="0"/>
              <a:t>22.06.2026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84942D4-CEEB-8818-F951-B2C9EB79A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236F052-37BE-F07D-F671-11992A12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5156-22DC-DD4D-A9F8-2F71DBECF2C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78583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2F5600F-BFAA-6E72-6478-427EE7BA9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BCF0122-D835-1A40-5BE6-8C067949A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70FA74C-C045-0DE2-3BB9-8511FFC06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9615-1357-124F-931B-A0F0CCC5ECC6}" type="datetimeFigureOut">
              <a:rPr lang="tr-TR" smtClean="0"/>
              <a:t>22.06.2026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1ECF937-5578-6048-4D21-1EA3B2323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184DFA3-1CA2-BC3A-A7A9-05D58B641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5156-22DC-DD4D-A9F8-2F71DBECF2C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4585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D9B4CB7-36CC-13EB-712D-8732B9498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E199B36-D18C-CFAE-A6B9-49DD50EC0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FC44AAC-BE6C-F2ED-D8CD-28940C284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9615-1357-124F-931B-A0F0CCC5ECC6}" type="datetimeFigureOut">
              <a:rPr lang="tr-TR" smtClean="0"/>
              <a:t>22.06.2026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6D27F0D-FF4E-208B-BFED-E2F1D010C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8DFB3F3-6C0E-8821-209D-3EC75193A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5156-22DC-DD4D-A9F8-2F71DBECF2C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329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6634DCF-8F2E-B336-7C87-345EC4F8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B7525D3-FBE4-BED1-2ACA-E589C4F14E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F6D8A9A-326C-DDC5-4531-6C78A2048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F4D36AA-5B8E-748C-C131-8076D5530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9615-1357-124F-931B-A0F0CCC5ECC6}" type="datetimeFigureOut">
              <a:rPr lang="tr-TR" smtClean="0"/>
              <a:t>22.06.2026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94AB6C9-6482-74D2-ECA3-94A7AD957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244E1F2-1437-141E-6914-266DF1ADF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5156-22DC-DD4D-A9F8-2F71DBECF2C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2239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995D81-1C10-83C0-96F7-4E516F9C6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9DBFF0C-FBD4-01B8-3019-FE986BE34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0B1AFA8-DE8B-182E-AA5E-BBA297873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2DEA4B54-427D-9B0E-947C-B116CB92E3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D82BFC1-30FC-A3BD-F782-D789D288AA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0058E7A4-6FD7-F117-D253-2FDCD371A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9615-1357-124F-931B-A0F0CCC5ECC6}" type="datetimeFigureOut">
              <a:rPr lang="tr-TR" smtClean="0"/>
              <a:t>22.06.2026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3BDD7745-DAC0-9FBA-8A00-62ECF4075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75EF1CA6-409F-F8F8-5D59-257F5B1C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5156-22DC-DD4D-A9F8-2F71DBECF2C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7350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307FFAD-6533-DE7E-E193-1E260B921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1C5F8B52-DD93-04E9-CA77-55900B807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9615-1357-124F-931B-A0F0CCC5ECC6}" type="datetimeFigureOut">
              <a:rPr lang="tr-TR" smtClean="0"/>
              <a:t>22.06.2026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E71F08C-2465-2F63-4773-B004216AE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8B6FBB2B-B704-6892-C56B-514B0AED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5156-22DC-DD4D-A9F8-2F71DBECF2C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9986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E81ACFE8-D68B-71D5-70D0-8CA8DF984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9615-1357-124F-931B-A0F0CCC5ECC6}" type="datetimeFigureOut">
              <a:rPr lang="tr-TR" smtClean="0"/>
              <a:t>22.06.2026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4A8B22D1-8A8E-F632-FAAC-DA4AC6C1C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71B4DDA-82CF-1083-C848-6E1438D5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5156-22DC-DD4D-A9F8-2F71DBECF2C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29791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DB5DE34-0345-A3EF-6C49-F1B9C9EE1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868BF48-E47F-F5C4-8DCC-BEB598707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6EB2361-CCA9-03B5-CAF5-146B6C95B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AA218AE-7AB3-7EBA-9856-F14FDA681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9615-1357-124F-931B-A0F0CCC5ECC6}" type="datetimeFigureOut">
              <a:rPr lang="tr-TR" smtClean="0"/>
              <a:t>22.06.2026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3F7DFA6-DB0F-6F16-96B9-109F3799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CFD6D57-4FBF-939D-9B25-1C94FC6B6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5156-22DC-DD4D-A9F8-2F71DBECF2C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54501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3BE8664-789C-F160-F688-3F8EE91B4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11E109D7-EC6F-F154-D319-BE55F511E7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6FE9A90-53E4-8520-035D-5C3B9331A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9DF6E9E-0579-63AB-D508-1D885027D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9615-1357-124F-931B-A0F0CCC5ECC6}" type="datetimeFigureOut">
              <a:rPr lang="tr-TR" smtClean="0"/>
              <a:t>22.06.2026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444340A-7207-3F8D-EF62-7BF0656DF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E2C17F7-11A0-FD1E-1B8D-3D8F04477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5156-22DC-DD4D-A9F8-2F71DBECF2C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7697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9301C49-8AE4-6BA5-492B-F0B3D827E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F076AE4-C9B6-A800-7151-9D60A4B9F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D1A443F-B98F-BA94-9969-09C6C10AC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9615-1357-124F-931B-A0F0CCC5ECC6}" type="datetimeFigureOut">
              <a:rPr lang="tr-TR" smtClean="0"/>
              <a:t>22.06.2026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F724F94-129A-3360-1826-2876484A0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3BB2E3D-33D0-7B52-C282-1A1ED2BCE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5156-22DC-DD4D-A9F8-2F71DBECF2C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36410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68AAB525-A82E-FC46-11B3-563D0A8316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476D33D-C483-7F77-2465-BA4883943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EF37DD5-EC9B-AEA6-C494-453FC588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69615-1357-124F-931B-A0F0CCC5ECC6}" type="datetimeFigureOut">
              <a:rPr lang="tr-TR" smtClean="0"/>
              <a:t>22.06.2026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7775ED3-78EF-2492-751B-3A5257C6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D544045-3022-D9EF-EA1A-EE6BC09DB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5156-22DC-DD4D-A9F8-2F71DBECF2C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655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4EEB691B-27B1-B6CD-7F7C-1A9597FF6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DED9388-2B67-19B1-5F56-26EA40266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69839A2-7E61-83D7-3CB3-60C37DC7C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69615-1357-124F-931B-A0F0CCC5ECC6}" type="datetimeFigureOut">
              <a:rPr lang="tr-TR" smtClean="0"/>
              <a:t>22.06.2026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6251441-464B-8C5F-B41F-BFCAD6CCAE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06D6F75-4DC4-87C4-1464-C2540EB7D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A5156-22DC-DD4D-A9F8-2F71DBECF2C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83103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5EDCAD-604F-14BD-65BF-17929EFCC4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tr-TR" sz="3800" noProof="1">
                <a:solidFill>
                  <a:srgbClr val="D97757"/>
                </a:solidFill>
              </a:rPr>
              <a:t>QueryMaster</a:t>
            </a:r>
            <a:r>
              <a:rPr lang="tr-TR" sz="3800" noProof="1">
                <a:solidFill>
                  <a:srgbClr val="2F2F2F"/>
                </a:solidFill>
              </a:rPr>
              <a:t> </a:t>
            </a:r>
            <a:br>
              <a:rPr lang="tr-TR" sz="4000" noProof="1">
                <a:solidFill>
                  <a:srgbClr val="2F2F2F"/>
                </a:solidFill>
              </a:rPr>
            </a:br>
            <a:r>
              <a:rPr lang="tr-TR" sz="4000" noProof="1">
                <a:solidFill>
                  <a:srgbClr val="2F2F2F"/>
                </a:solidFill>
              </a:rPr>
              <a:t>End-to-End Text-to-SQL Agent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A25933B-2EE9-8994-B7C1-F02490A0D7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1900" noProof="1">
                <a:solidFill>
                  <a:srgbClr val="6B6B6B"/>
                </a:solidFill>
              </a:rPr>
              <a:t>FEE306 Applied Artificial Neural Networks - Final Project</a:t>
            </a:r>
          </a:p>
          <a:p>
            <a:r>
              <a:rPr lang="tr-TR" sz="1900" noProof="1">
                <a:solidFill>
                  <a:srgbClr val="6B6B6B"/>
                </a:solidFill>
              </a:rPr>
              <a:t>Mehmet Zahit Avcı 22040102030</a:t>
            </a:r>
          </a:p>
        </p:txBody>
      </p:sp>
      <p:cxnSp>
        <p:nvCxnSpPr>
          <p:cNvPr id="6" name="Düz Bağlayıcı 5">
            <a:extLst>
              <a:ext uri="{FF2B5EF4-FFF2-40B4-BE49-F238E27FC236}">
                <a16:creationId xmlns:a16="http://schemas.microsoft.com/office/drawing/2014/main" id="{29A30779-FC40-F128-5CEE-39375F4A13C7}"/>
              </a:ext>
            </a:extLst>
          </p:cNvPr>
          <p:cNvCxnSpPr/>
          <p:nvPr/>
        </p:nvCxnSpPr>
        <p:spPr>
          <a:xfrm>
            <a:off x="421341" y="3429000"/>
            <a:ext cx="11349318" cy="0"/>
          </a:xfrm>
          <a:prstGeom prst="line">
            <a:avLst/>
          </a:prstGeom>
          <a:ln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012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9841F66-511C-7EBA-A6C8-EC5B4A26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noProof="1">
                <a:solidFill>
                  <a:srgbClr val="D97757"/>
                </a:solidFill>
              </a:rPr>
              <a:t>Problem &amp; Motivation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09496A-B57E-293D-4C27-75F4E9E7FE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3092" y="986264"/>
            <a:ext cx="9744784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noProof="1">
              <a:ln>
                <a:noFill/>
              </a:ln>
              <a:solidFill>
                <a:srgbClr val="2F2F2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SQL is difficult for non-technical users.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Text-to-SQL can make database access easier.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Many existing solutions require powerful hardware or cloud services.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The goal: To build a local, efficient and a verifiable Text-to-SQL agent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400" noProof="1">
                <a:solidFill>
                  <a:srgbClr val="2F2F2F"/>
                </a:solidFill>
                <a:latin typeface="Arial" panose="020B0604020202020204" pitchFamily="34" charset="0"/>
              </a:rPr>
              <a:t>runing on consumer hardware</a:t>
            </a:r>
            <a:r>
              <a:rPr kumimoji="0" lang="en-US" sz="2400" b="0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2B5508AA-9A88-7E28-19B2-DF8B5B464A04}"/>
              </a:ext>
            </a:extLst>
          </p:cNvPr>
          <p:cNvCxnSpPr/>
          <p:nvPr/>
        </p:nvCxnSpPr>
        <p:spPr>
          <a:xfrm>
            <a:off x="421341" y="1263263"/>
            <a:ext cx="11349318" cy="0"/>
          </a:xfrm>
          <a:prstGeom prst="line">
            <a:avLst/>
          </a:prstGeom>
          <a:ln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68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3838FF1-4B53-847B-ED88-6D4A396F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200" noProof="1">
                <a:solidFill>
                  <a:srgbClr val="D97757"/>
                </a:solidFill>
              </a:rPr>
              <a:t>Methodology &amp; Tech Stack</a:t>
            </a:r>
            <a:endParaRPr lang="tr-TR" sz="4200" noProof="1"/>
          </a:p>
        </p:txBody>
      </p:sp>
      <p:cxnSp>
        <p:nvCxnSpPr>
          <p:cNvPr id="4" name="Düz Bağlayıcı 3">
            <a:extLst>
              <a:ext uri="{FF2B5EF4-FFF2-40B4-BE49-F238E27FC236}">
                <a16:creationId xmlns:a16="http://schemas.microsoft.com/office/drawing/2014/main" id="{B22CFD79-428F-3ED8-7540-38AD5E11EBDF}"/>
              </a:ext>
            </a:extLst>
          </p:cNvPr>
          <p:cNvCxnSpPr/>
          <p:nvPr/>
        </p:nvCxnSpPr>
        <p:spPr>
          <a:xfrm>
            <a:off x="421341" y="1263263"/>
            <a:ext cx="11349318" cy="0"/>
          </a:xfrm>
          <a:prstGeom prst="line">
            <a:avLst/>
          </a:prstGeom>
          <a:ln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31A9CAE5-323D-FADE-A550-7955572EC9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8081" y="1408259"/>
            <a:ext cx="8192307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sz="2400" b="1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Base Model:</a:t>
            </a:r>
            <a:r>
              <a:rPr kumimoji="0" lang="tr-TR" sz="2400" b="0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 Qwen3-8B (4-bit)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sz="2400" b="1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Fine-tuning:</a:t>
            </a:r>
            <a:r>
              <a:rPr kumimoji="0" lang="tr-TR" sz="2400" b="0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 LoRA with MLX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sz="2400" b="1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Hardware:</a:t>
            </a:r>
            <a:r>
              <a:rPr kumimoji="0" lang="tr-TR" sz="2400" b="0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 Apple Silicon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sz="2400" b="1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Training Data:</a:t>
            </a:r>
            <a:r>
              <a:rPr kumimoji="0" lang="tr-TR" sz="2400" b="0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 BIRD + SynSQL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sz="2400" b="1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Interface:</a:t>
            </a:r>
            <a:r>
              <a:rPr kumimoji="0" lang="tr-TR" sz="2400" b="0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 Streamlit for local inference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tr-TR" sz="2400" b="1" noProof="1">
                <a:solidFill>
                  <a:srgbClr val="2F2F2F"/>
                </a:solidFill>
                <a:latin typeface="Arial" panose="020B0604020202020204" pitchFamily="34" charset="0"/>
              </a:rPr>
              <a:t>Execution &amp; Validation: </a:t>
            </a:r>
            <a:r>
              <a:rPr lang="tr-TR" sz="2400" noProof="1">
                <a:solidFill>
                  <a:srgbClr val="2F2F2F"/>
                </a:solidFill>
                <a:latin typeface="Arial" panose="020B0604020202020204" pitchFamily="34" charset="0"/>
              </a:rPr>
              <a:t>Embedded SQLite &amp; Mermaid.js</a:t>
            </a:r>
            <a:endParaRPr kumimoji="0" lang="tr-TR" sz="2400" b="1" i="0" u="none" strike="noStrike" cap="none" normalizeH="0" baseline="0" noProof="1">
              <a:ln>
                <a:noFill/>
              </a:ln>
              <a:solidFill>
                <a:srgbClr val="2F2F2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841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4B3AE14-32F3-A2B8-BEC3-8B0729BDA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200" noProof="1">
                <a:solidFill>
                  <a:srgbClr val="D97757"/>
                </a:solidFill>
              </a:rPr>
              <a:t>Evaluation Results</a:t>
            </a:r>
            <a:endParaRPr lang="tr-TR" sz="4200" noProof="1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BAD69A-A5AA-815D-E51A-199F4E3EDB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6526" y="1880496"/>
            <a:ext cx="4804520" cy="1792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sz="1900" b="1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Benchmark:</a:t>
            </a:r>
            <a:r>
              <a:rPr kumimoji="0" lang="tr-TR" sz="1900" b="0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 Spider 1.0 Development Set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sz="1900" b="1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Execution Accuracy:</a:t>
            </a:r>
            <a:r>
              <a:rPr kumimoji="0" lang="tr-TR" sz="1900" b="0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 67.4%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sz="1900" b="1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Syntax Error Rate:</a:t>
            </a:r>
            <a:r>
              <a:rPr kumimoji="0" lang="tr-TR" sz="1900" b="0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 4.1%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sz="1900" b="1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Correct Predictions:</a:t>
            </a:r>
            <a:r>
              <a:rPr kumimoji="0" lang="tr-TR" sz="1900" b="0" i="0" u="none" strike="noStrike" cap="none" normalizeH="0" baseline="0" noProof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 697 / 1034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F084D348-6EC7-0CE2-8511-FB7F715BE86B}"/>
              </a:ext>
            </a:extLst>
          </p:cNvPr>
          <p:cNvCxnSpPr/>
          <p:nvPr/>
        </p:nvCxnSpPr>
        <p:spPr>
          <a:xfrm>
            <a:off x="421341" y="1263263"/>
            <a:ext cx="11349318" cy="0"/>
          </a:xfrm>
          <a:prstGeom prst="line">
            <a:avLst/>
          </a:prstGeom>
          <a:ln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Resim 5">
            <a:extLst>
              <a:ext uri="{FF2B5EF4-FFF2-40B4-BE49-F238E27FC236}">
                <a16:creationId xmlns:a16="http://schemas.microsoft.com/office/drawing/2014/main" id="{6C0DD618-002B-8F1C-C5C6-868CC89F6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446" y="1331225"/>
            <a:ext cx="5474172" cy="2969400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E7267210-3450-D68B-8B53-56A0708F063F}"/>
              </a:ext>
            </a:extLst>
          </p:cNvPr>
          <p:cNvSpPr txBox="1"/>
          <p:nvPr/>
        </p:nvSpPr>
        <p:spPr>
          <a:xfrm>
            <a:off x="8189819" y="4300625"/>
            <a:ext cx="233542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300" noProof="1">
                <a:solidFill>
                  <a:srgbClr val="2F2F2F"/>
                </a:solidFill>
              </a:rPr>
              <a:t>Accuracy comparison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6A64A15D-886D-5130-F499-8BA1D149FF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19" b="10780"/>
          <a:stretch>
            <a:fillRect/>
          </a:stretch>
        </p:blipFill>
        <p:spPr>
          <a:xfrm>
            <a:off x="6620446" y="4698991"/>
            <a:ext cx="5474172" cy="1641311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5C6F47F2-C3DE-80F6-D657-95F0D9FDE4CF}"/>
              </a:ext>
            </a:extLst>
          </p:cNvPr>
          <p:cNvSpPr txBox="1"/>
          <p:nvPr/>
        </p:nvSpPr>
        <p:spPr>
          <a:xfrm>
            <a:off x="8189819" y="6346681"/>
            <a:ext cx="233542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300" noProof="1">
                <a:solidFill>
                  <a:srgbClr val="2F2F2F"/>
                </a:solidFill>
              </a:rPr>
              <a:t>Difficulty breakdown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B6CA4454-9392-554B-0CB3-769E247BD55E}"/>
              </a:ext>
            </a:extLst>
          </p:cNvPr>
          <p:cNvSpPr/>
          <p:nvPr/>
        </p:nvSpPr>
        <p:spPr>
          <a:xfrm>
            <a:off x="6867309" y="2715540"/>
            <a:ext cx="1322510" cy="378069"/>
          </a:xfrm>
          <a:prstGeom prst="rect">
            <a:avLst/>
          </a:prstGeom>
          <a:solidFill>
            <a:srgbClr val="FB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tr-TR" sz="1000" dirty="0">
                <a:solidFill>
                  <a:srgbClr val="42423E"/>
                </a:solidFill>
              </a:rPr>
              <a:t>   </a:t>
            </a:r>
            <a:r>
              <a:rPr lang="tr-TR" sz="800" noProof="1">
                <a:solidFill>
                  <a:srgbClr val="42423E"/>
                </a:solidFill>
              </a:rPr>
              <a:t>QueryMaster</a:t>
            </a:r>
            <a:endParaRPr lang="tr-TR" sz="800" dirty="0">
              <a:solidFill>
                <a:srgbClr val="4242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108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>
            <a:extLst>
              <a:ext uri="{FF2B5EF4-FFF2-40B4-BE49-F238E27FC236}">
                <a16:creationId xmlns:a16="http://schemas.microsoft.com/office/drawing/2014/main" id="{FF44A20A-DCAC-7FAD-14C1-D6346886CE9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200" noProof="1">
                <a:solidFill>
                  <a:srgbClr val="D97757"/>
                </a:solidFill>
              </a:rPr>
              <a:t>Advanced Features </a:t>
            </a:r>
            <a:endParaRPr lang="tr-TR" sz="4200" noProof="1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C3531E4-71B4-00F0-4578-F8E27D353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368036"/>
            <a:ext cx="10515600" cy="480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sz="2000" b="1" noProof="1">
                <a:solidFill>
                  <a:srgbClr val="2F2F2F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  Dynamic SQLite Execution:</a:t>
            </a:r>
            <a:r>
              <a:rPr lang="tr-TR" sz="2000" noProof="1">
                <a:solidFill>
                  <a:srgbClr val="2F2F2F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 Displays tabular results from produced queries that are executed in real-time on uploaded or in-memory databases.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sz="2000" b="1" noProof="1">
                <a:solidFill>
                  <a:srgbClr val="2F2F2F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  ER Diagrams:</a:t>
            </a:r>
            <a:r>
              <a:rPr lang="tr-TR" sz="2000" noProof="1">
                <a:solidFill>
                  <a:srgbClr val="2F2F2F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 Uses Mermaid.js to automatically visualize table relationships and instantly understand DDL schemas.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sz="2000" b="1" dirty="0">
                <a:latin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tr-TR" sz="2000" b="1" dirty="0" err="1">
                <a:latin typeface="Aptos" panose="020B0004020202020204" pitchFamily="34" charset="0"/>
                <a:cs typeface="Arial" panose="020B0604020202020204" pitchFamily="34" charset="0"/>
              </a:rPr>
              <a:t>Execution</a:t>
            </a:r>
            <a:r>
              <a:rPr lang="tr-TR" sz="2000" b="1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sz="2000" b="1" dirty="0" err="1">
                <a:latin typeface="Aptos" panose="020B0004020202020204" pitchFamily="34" charset="0"/>
                <a:cs typeface="Arial" panose="020B0604020202020204" pitchFamily="34" charset="0"/>
              </a:rPr>
              <a:t>Flowcharts</a:t>
            </a:r>
            <a:r>
              <a:rPr lang="tr-TR" sz="2000" b="1" dirty="0">
                <a:latin typeface="Aptos" panose="020B0004020202020204" pitchFamily="34" charset="0"/>
                <a:cs typeface="Arial" panose="020B0604020202020204" pitchFamily="34" charset="0"/>
              </a:rPr>
              <a:t>: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 Step-</a:t>
            </a:r>
            <a:r>
              <a:rPr lang="tr-TR" sz="2000" dirty="0" err="1">
                <a:latin typeface="Aptos" panose="020B0004020202020204" pitchFamily="34" charset="0"/>
                <a:cs typeface="Arial" panose="020B0604020202020204" pitchFamily="34" charset="0"/>
              </a:rPr>
              <a:t>by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-step </a:t>
            </a:r>
            <a:r>
              <a:rPr lang="tr-TR" sz="2000" dirty="0" err="1">
                <a:latin typeface="Aptos" panose="020B0004020202020204" pitchFamily="34" charset="0"/>
                <a:cs typeface="Arial" panose="020B0604020202020204" pitchFamily="34" charset="0"/>
              </a:rPr>
              <a:t>visualization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 of </a:t>
            </a:r>
            <a:r>
              <a:rPr lang="tr-TR" sz="2000" dirty="0" err="1">
                <a:latin typeface="Aptos" panose="020B0004020202020204" pitchFamily="34" charset="0"/>
                <a:cs typeface="Arial" panose="020B0604020202020204" pitchFamily="34" charset="0"/>
              </a:rPr>
              <a:t>the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sz="2000" dirty="0" err="1">
                <a:latin typeface="Aptos" panose="020B0004020202020204" pitchFamily="34" charset="0"/>
                <a:cs typeface="Arial" panose="020B0604020202020204" pitchFamily="34" charset="0"/>
              </a:rPr>
              <a:t>logical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sz="2000" dirty="0" err="1">
                <a:latin typeface="Aptos" panose="020B0004020202020204" pitchFamily="34" charset="0"/>
                <a:cs typeface="Arial" panose="020B0604020202020204" pitchFamily="34" charset="0"/>
              </a:rPr>
              <a:t>execution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sz="2000" dirty="0" err="1">
                <a:latin typeface="Aptos" panose="020B0004020202020204" pitchFamily="34" charset="0"/>
                <a:cs typeface="Arial" panose="020B0604020202020204" pitchFamily="34" charset="0"/>
              </a:rPr>
              <a:t>order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 of </a:t>
            </a:r>
            <a:r>
              <a:rPr lang="tr-TR" sz="2000" dirty="0" err="1">
                <a:latin typeface="Aptos" panose="020B0004020202020204" pitchFamily="34" charset="0"/>
                <a:cs typeface="Arial" panose="020B0604020202020204" pitchFamily="34" charset="0"/>
              </a:rPr>
              <a:t>the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 AI-</a:t>
            </a:r>
            <a:r>
              <a:rPr lang="tr-TR" sz="2000" dirty="0" err="1">
                <a:latin typeface="Aptos" panose="020B0004020202020204" pitchFamily="34" charset="0"/>
                <a:cs typeface="Arial" panose="020B0604020202020204" pitchFamily="34" charset="0"/>
              </a:rPr>
              <a:t>generated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 SQL </a:t>
            </a:r>
            <a:r>
              <a:rPr lang="tr-TR" sz="2000" dirty="0" err="1">
                <a:latin typeface="Aptos" panose="020B0004020202020204" pitchFamily="34" charset="0"/>
                <a:cs typeface="Arial" panose="020B0604020202020204" pitchFamily="34" charset="0"/>
              </a:rPr>
              <a:t>queries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sz="2000" b="1" dirty="0">
                <a:latin typeface="Aptos" panose="020B0004020202020204" pitchFamily="34" charset="0"/>
                <a:cs typeface="Arial" panose="020B0604020202020204" pitchFamily="34" charset="0"/>
              </a:rPr>
              <a:t>   </a:t>
            </a:r>
            <a:r>
              <a:rPr lang="tr-TR" sz="2000" b="1" dirty="0" err="1">
                <a:latin typeface="Aptos" panose="020B0004020202020204" pitchFamily="34" charset="0"/>
                <a:cs typeface="Arial" panose="020B0604020202020204" pitchFamily="34" charset="0"/>
              </a:rPr>
              <a:t>Accuracy</a:t>
            </a:r>
            <a:r>
              <a:rPr lang="tr-TR" sz="2000" b="1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sz="2000" b="1" dirty="0" err="1">
                <a:latin typeface="Aptos" panose="020B0004020202020204" pitchFamily="34" charset="0"/>
                <a:cs typeface="Arial" panose="020B0604020202020204" pitchFamily="34" charset="0"/>
              </a:rPr>
              <a:t>Validation</a:t>
            </a:r>
            <a:r>
              <a:rPr lang="tr-TR" sz="2000" b="1" dirty="0">
                <a:latin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tr-TR" sz="2000" noProof="1">
                <a:solidFill>
                  <a:srgbClr val="2F2F2F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Executes the created query against the expected Gold SQL in order to do multiset row comparison and mathematically check accuracy.</a:t>
            </a:r>
          </a:p>
          <a:p>
            <a:r>
              <a:rPr lang="tr-TR" sz="2000" b="1" dirty="0" err="1">
                <a:latin typeface="Aptos" panose="020B0004020202020204" pitchFamily="34" charset="0"/>
                <a:cs typeface="Arial" panose="020B0604020202020204" pitchFamily="34" charset="0"/>
              </a:rPr>
              <a:t>Export</a:t>
            </a:r>
            <a:r>
              <a:rPr lang="tr-TR" sz="2000" b="1" dirty="0">
                <a:latin typeface="Aptos" panose="020B0004020202020204" pitchFamily="34" charset="0"/>
                <a:cs typeface="Arial" panose="020B0604020202020204" pitchFamily="34" charset="0"/>
              </a:rPr>
              <a:t> &amp; </a:t>
            </a:r>
            <a:r>
              <a:rPr lang="tr-TR" sz="2000" b="1" dirty="0" err="1">
                <a:latin typeface="Aptos" panose="020B0004020202020204" pitchFamily="34" charset="0"/>
                <a:cs typeface="Arial" panose="020B0604020202020204" pitchFamily="34" charset="0"/>
              </a:rPr>
              <a:t>Reporting</a:t>
            </a:r>
            <a:r>
              <a:rPr lang="tr-TR" sz="2000" b="1" dirty="0">
                <a:latin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tr-TR" sz="2000" dirty="0" err="1">
                <a:latin typeface="Aptos" panose="020B0004020202020204" pitchFamily="34" charset="0"/>
                <a:cs typeface="Arial" panose="020B0604020202020204" pitchFamily="34" charset="0"/>
              </a:rPr>
              <a:t>Allows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sz="2000" dirty="0" err="1">
                <a:latin typeface="Aptos" panose="020B0004020202020204" pitchFamily="34" charset="0"/>
                <a:cs typeface="Arial" panose="020B0604020202020204" pitchFamily="34" charset="0"/>
              </a:rPr>
              <a:t>downloading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sz="2000" dirty="0" err="1">
                <a:latin typeface="Aptos" panose="020B0004020202020204" pitchFamily="34" charset="0"/>
                <a:cs typeface="Arial" panose="020B0604020202020204" pitchFamily="34" charset="0"/>
              </a:rPr>
              <a:t>query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sz="2000" dirty="0" err="1">
                <a:latin typeface="Aptos" panose="020B0004020202020204" pitchFamily="34" charset="0"/>
                <a:cs typeface="Arial" panose="020B0604020202020204" pitchFamily="34" charset="0"/>
              </a:rPr>
              <a:t>results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 as CSV/JSON </a:t>
            </a:r>
            <a:r>
              <a:rPr lang="tr-TR" sz="2000" dirty="0" err="1">
                <a:latin typeface="Aptos" panose="020B0004020202020204" pitchFamily="34" charset="0"/>
                <a:cs typeface="Arial" panose="020B0604020202020204" pitchFamily="34" charset="0"/>
              </a:rPr>
              <a:t>and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sz="2000" dirty="0" err="1">
                <a:latin typeface="Aptos" panose="020B0004020202020204" pitchFamily="34" charset="0"/>
                <a:cs typeface="Arial" panose="020B0604020202020204" pitchFamily="34" charset="0"/>
              </a:rPr>
              <a:t>exporting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 a </a:t>
            </a:r>
            <a:r>
              <a:rPr lang="tr-TR" sz="2000" dirty="0" err="1">
                <a:latin typeface="Aptos" panose="020B0004020202020204" pitchFamily="34" charset="0"/>
                <a:cs typeface="Arial" panose="020B0604020202020204" pitchFamily="34" charset="0"/>
              </a:rPr>
              <a:t>comprehensive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sz="2000" dirty="0" err="1">
                <a:latin typeface="Aptos" panose="020B0004020202020204" pitchFamily="34" charset="0"/>
                <a:cs typeface="Arial" panose="020B0604020202020204" pitchFamily="34" charset="0"/>
              </a:rPr>
              <a:t>Markdown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sz="2000" dirty="0" err="1">
                <a:latin typeface="Aptos" panose="020B0004020202020204" pitchFamily="34" charset="0"/>
                <a:cs typeface="Arial" panose="020B0604020202020204" pitchFamily="34" charset="0"/>
              </a:rPr>
              <a:t>report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 of </a:t>
            </a:r>
            <a:r>
              <a:rPr lang="tr-TR" sz="2000" dirty="0" err="1">
                <a:latin typeface="Aptos" panose="020B0004020202020204" pitchFamily="34" charset="0"/>
                <a:cs typeface="Arial" panose="020B0604020202020204" pitchFamily="34" charset="0"/>
              </a:rPr>
              <a:t>the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sz="2000" dirty="0" err="1">
                <a:latin typeface="Aptos" panose="020B0004020202020204" pitchFamily="34" charset="0"/>
                <a:cs typeface="Arial" panose="020B0604020202020204" pitchFamily="34" charset="0"/>
              </a:rPr>
              <a:t>entire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tr-TR" sz="2000" dirty="0" err="1">
                <a:latin typeface="Aptos" panose="020B0004020202020204" pitchFamily="34" charset="0"/>
                <a:cs typeface="Arial" panose="020B0604020202020204" pitchFamily="34" charset="0"/>
              </a:rPr>
              <a:t>analysis</a:t>
            </a:r>
            <a:r>
              <a:rPr lang="tr-TR" sz="2000" dirty="0">
                <a:latin typeface="Aptos" panose="020B0004020202020204" pitchFamily="34" charset="0"/>
                <a:cs typeface="Arial" panose="020B0604020202020204" pitchFamily="34" charset="0"/>
              </a:rPr>
              <a:t>.</a:t>
            </a:r>
            <a:br>
              <a:rPr lang="tr-TR" sz="2400" dirty="0">
                <a:latin typeface="Aptos" panose="020B0004020202020204" pitchFamily="34" charset="0"/>
              </a:rPr>
            </a:br>
            <a:endParaRPr lang="tr-TR" sz="2400" noProof="1">
              <a:solidFill>
                <a:srgbClr val="2F2F2F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Düz Bağlayıcı 5">
            <a:extLst>
              <a:ext uri="{FF2B5EF4-FFF2-40B4-BE49-F238E27FC236}">
                <a16:creationId xmlns:a16="http://schemas.microsoft.com/office/drawing/2014/main" id="{79169A73-856F-0D59-46A9-AED02FFCBF4A}"/>
              </a:ext>
            </a:extLst>
          </p:cNvPr>
          <p:cNvCxnSpPr/>
          <p:nvPr/>
        </p:nvCxnSpPr>
        <p:spPr>
          <a:xfrm>
            <a:off x="421341" y="1263263"/>
            <a:ext cx="11349318" cy="0"/>
          </a:xfrm>
          <a:prstGeom prst="line">
            <a:avLst/>
          </a:prstGeom>
          <a:ln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1419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849934C-B79A-C0D9-1777-F68E4700C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200" noProof="1">
                <a:solidFill>
                  <a:srgbClr val="D97757"/>
                </a:solidFill>
              </a:rPr>
              <a:t>Live Demo</a:t>
            </a:r>
            <a:endParaRPr lang="tr-TR" sz="42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E1BCC16-F136-6EE4-E000-442C1D5BE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dirty="0" err="1">
                <a:solidFill>
                  <a:srgbClr val="2F2F2F"/>
                </a:solidFill>
              </a:rPr>
              <a:t>Streamlit</a:t>
            </a:r>
            <a:r>
              <a:rPr lang="tr-TR" sz="2400" dirty="0">
                <a:solidFill>
                  <a:srgbClr val="2F2F2F"/>
                </a:solidFill>
              </a:rPr>
              <a:t> </a:t>
            </a:r>
            <a:r>
              <a:rPr lang="tr-TR" sz="2400" dirty="0" err="1">
                <a:solidFill>
                  <a:srgbClr val="2F2F2F"/>
                </a:solidFill>
              </a:rPr>
              <a:t>Interface</a:t>
            </a:r>
            <a:endParaRPr lang="tr-TR" sz="2400" dirty="0">
              <a:solidFill>
                <a:srgbClr val="2F2F2F"/>
              </a:solidFill>
            </a:endParaRPr>
          </a:p>
        </p:txBody>
      </p:sp>
      <p:cxnSp>
        <p:nvCxnSpPr>
          <p:cNvPr id="4" name="Düz Bağlayıcı 3">
            <a:extLst>
              <a:ext uri="{FF2B5EF4-FFF2-40B4-BE49-F238E27FC236}">
                <a16:creationId xmlns:a16="http://schemas.microsoft.com/office/drawing/2014/main" id="{9F19A006-EA0C-2E29-6C54-498D7BA6F647}"/>
              </a:ext>
            </a:extLst>
          </p:cNvPr>
          <p:cNvCxnSpPr/>
          <p:nvPr/>
        </p:nvCxnSpPr>
        <p:spPr>
          <a:xfrm>
            <a:off x="421341" y="1263263"/>
            <a:ext cx="11349318" cy="0"/>
          </a:xfrm>
          <a:prstGeom prst="line">
            <a:avLst/>
          </a:prstGeom>
          <a:ln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856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76DBE20-60D8-2007-859E-90ADAC4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200" noProof="1">
                <a:solidFill>
                  <a:srgbClr val="D97757"/>
                </a:solidFill>
              </a:rPr>
              <a:t>Future Work</a:t>
            </a:r>
          </a:p>
        </p:txBody>
      </p:sp>
      <p:cxnSp>
        <p:nvCxnSpPr>
          <p:cNvPr id="4" name="Düz Bağlayıcı 3">
            <a:extLst>
              <a:ext uri="{FF2B5EF4-FFF2-40B4-BE49-F238E27FC236}">
                <a16:creationId xmlns:a16="http://schemas.microsoft.com/office/drawing/2014/main" id="{2903C194-370E-2593-5BE5-8588F795C4B6}"/>
              </a:ext>
            </a:extLst>
          </p:cNvPr>
          <p:cNvCxnSpPr/>
          <p:nvPr/>
        </p:nvCxnSpPr>
        <p:spPr>
          <a:xfrm>
            <a:off x="421341" y="1263263"/>
            <a:ext cx="11349318" cy="0"/>
          </a:xfrm>
          <a:prstGeom prst="line">
            <a:avLst/>
          </a:prstGeom>
          <a:ln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98EEF63D-FC97-F1A6-1259-A3253FF6F6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3580" y="1263263"/>
            <a:ext cx="10784840" cy="3383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2200" b="0" i="0" u="none" strike="noStrike" cap="none" normalizeH="0" baseline="0" noProof="1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r>
              <a:rPr lang="tr-TR" sz="2200" b="1" dirty="0">
                <a:latin typeface="Arial" panose="020B0604020202020204" pitchFamily="34" charset="0"/>
                <a:cs typeface="Arial" panose="020B0604020202020204" pitchFamily="34" charset="0"/>
              </a:rPr>
              <a:t>API </a:t>
            </a:r>
            <a:r>
              <a:rPr lang="tr-TR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Microservices</a:t>
            </a:r>
            <a:r>
              <a:rPr lang="tr-TR" sz="22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tr-TR" sz="22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tr-TR" sz="2200" dirty="0" err="1">
                <a:latin typeface="Arial" panose="020B0604020202020204" pitchFamily="34" charset="0"/>
                <a:cs typeface="Arial" panose="020B0604020202020204" pitchFamily="34" charset="0"/>
              </a:rPr>
              <a:t>Deploy</a:t>
            </a:r>
            <a:r>
              <a:rPr lang="tr-TR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2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tr-TR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200" dirty="0" err="1">
                <a:latin typeface="Arial" panose="020B0604020202020204" pitchFamily="34" charset="0"/>
                <a:cs typeface="Arial" panose="020B0604020202020204" pitchFamily="34" charset="0"/>
              </a:rPr>
              <a:t>inference</a:t>
            </a:r>
            <a:r>
              <a:rPr lang="tr-TR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200" dirty="0" err="1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  <a:r>
              <a:rPr lang="tr-TR" sz="2200" dirty="0">
                <a:latin typeface="Arial" panose="020B0604020202020204" pitchFamily="34" charset="0"/>
                <a:cs typeface="Arial" panose="020B0604020202020204" pitchFamily="34" charset="0"/>
              </a:rPr>
              <a:t> as a </a:t>
            </a:r>
            <a:r>
              <a:rPr lang="tr-TR" sz="2200" dirty="0" err="1">
                <a:latin typeface="Arial" panose="020B0604020202020204" pitchFamily="34" charset="0"/>
                <a:cs typeface="Arial" panose="020B0604020202020204" pitchFamily="34" charset="0"/>
              </a:rPr>
              <a:t>scalable</a:t>
            </a:r>
            <a:r>
              <a:rPr lang="tr-TR" sz="22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tr-TR" sz="2200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tr-TR" sz="2200" dirty="0">
                <a:latin typeface="Arial" panose="020B0604020202020204" pitchFamily="34" charset="0"/>
                <a:cs typeface="Arial" panose="020B0604020202020204" pitchFamily="34" charset="0"/>
              </a:rPr>
              <a:t> service </a:t>
            </a:r>
            <a:r>
              <a:rPr lang="tr-TR" sz="2200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tr-TR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200" dirty="0" err="1">
                <a:latin typeface="Arial" panose="020B0604020202020204" pitchFamily="34" charset="0"/>
                <a:cs typeface="Arial" panose="020B0604020202020204" pitchFamily="34" charset="0"/>
              </a:rPr>
              <a:t>broader</a:t>
            </a:r>
            <a:r>
              <a:rPr lang="tr-TR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200" dirty="0" err="1"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tr-TR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tr-TR" sz="2200" b="1" dirty="0"/>
              <a:t>Multi-</a:t>
            </a:r>
            <a:r>
              <a:rPr lang="tr-TR" sz="2200" b="1" dirty="0" err="1"/>
              <a:t>Dialect</a:t>
            </a:r>
            <a:r>
              <a:rPr lang="tr-TR" sz="2200" b="1" dirty="0"/>
              <a:t> </a:t>
            </a:r>
            <a:r>
              <a:rPr lang="tr-TR" sz="2200" b="1" dirty="0" err="1"/>
              <a:t>Support</a:t>
            </a:r>
            <a:r>
              <a:rPr lang="tr-TR" sz="2200" b="1" dirty="0"/>
              <a:t>: </a:t>
            </a:r>
            <a:r>
              <a:rPr lang="tr-TR" sz="2200" dirty="0" err="1"/>
              <a:t>Extend</a:t>
            </a:r>
            <a:r>
              <a:rPr lang="tr-TR" sz="2200" dirty="0"/>
              <a:t> </a:t>
            </a:r>
            <a:r>
              <a:rPr lang="tr-TR" sz="2200" dirty="0" err="1"/>
              <a:t>the</a:t>
            </a:r>
            <a:r>
              <a:rPr lang="tr-TR" sz="2200" dirty="0"/>
              <a:t> </a:t>
            </a:r>
            <a:r>
              <a:rPr lang="tr-TR" sz="2200" dirty="0" err="1"/>
              <a:t>execution</a:t>
            </a:r>
            <a:r>
              <a:rPr lang="tr-TR" sz="2200" dirty="0"/>
              <a:t> engine </a:t>
            </a:r>
            <a:r>
              <a:rPr lang="tr-TR" sz="2200" dirty="0" err="1"/>
              <a:t>to</a:t>
            </a:r>
            <a:r>
              <a:rPr lang="tr-TR" sz="2200" dirty="0"/>
              <a:t> </a:t>
            </a:r>
            <a:r>
              <a:rPr lang="tr-TR" sz="2200" dirty="0" err="1"/>
              <a:t>support</a:t>
            </a:r>
            <a:r>
              <a:rPr lang="tr-TR" sz="2200" dirty="0"/>
              <a:t> </a:t>
            </a:r>
            <a:r>
              <a:rPr lang="tr-TR" sz="2200" dirty="0" err="1"/>
              <a:t>enterprise</a:t>
            </a:r>
            <a:r>
              <a:rPr lang="tr-TR" sz="2200" dirty="0"/>
              <a:t> </a:t>
            </a:r>
            <a:r>
              <a:rPr lang="tr-TR" sz="2200" dirty="0" err="1"/>
              <a:t>databases</a:t>
            </a:r>
            <a:r>
              <a:rPr lang="tr-TR" sz="2200" dirty="0"/>
              <a:t> </a:t>
            </a:r>
            <a:r>
              <a:rPr lang="tr-TR" sz="2200" dirty="0" err="1"/>
              <a:t>like</a:t>
            </a:r>
            <a:r>
              <a:rPr lang="tr-TR" sz="2200" dirty="0"/>
              <a:t> </a:t>
            </a:r>
            <a:r>
              <a:rPr lang="tr-TR" sz="2200" dirty="0" err="1"/>
              <a:t>PostgreSQL</a:t>
            </a:r>
            <a:r>
              <a:rPr lang="tr-TR" sz="2200" dirty="0"/>
              <a:t> </a:t>
            </a:r>
            <a:r>
              <a:rPr lang="tr-TR" sz="2200" dirty="0" err="1"/>
              <a:t>and</a:t>
            </a:r>
            <a:r>
              <a:rPr lang="tr-TR" sz="2200" dirty="0"/>
              <a:t> MySQL.</a:t>
            </a:r>
          </a:p>
          <a:p>
            <a:r>
              <a:rPr lang="tr-TR" sz="2200" b="1" dirty="0" err="1"/>
              <a:t>Agentic</a:t>
            </a:r>
            <a:r>
              <a:rPr lang="tr-TR" sz="2200" b="1" dirty="0"/>
              <a:t> </a:t>
            </a:r>
            <a:r>
              <a:rPr lang="tr-TR" sz="2200" b="1" dirty="0" err="1"/>
              <a:t>Frameworks</a:t>
            </a:r>
            <a:r>
              <a:rPr lang="tr-TR" sz="2200" b="1" dirty="0"/>
              <a:t>: </a:t>
            </a:r>
            <a:r>
              <a:rPr lang="tr-TR" sz="2200" dirty="0" err="1"/>
              <a:t>Integrate</a:t>
            </a:r>
            <a:r>
              <a:rPr lang="tr-TR" sz="2200" dirty="0"/>
              <a:t> </a:t>
            </a:r>
            <a:r>
              <a:rPr lang="tr-TR" sz="2200" dirty="0" err="1"/>
              <a:t>frameworks</a:t>
            </a:r>
            <a:r>
              <a:rPr lang="tr-TR" sz="2200" dirty="0"/>
              <a:t> </a:t>
            </a:r>
            <a:r>
              <a:rPr lang="tr-TR" sz="2200" dirty="0" err="1"/>
              <a:t>like</a:t>
            </a:r>
            <a:r>
              <a:rPr lang="tr-TR" sz="2200" dirty="0"/>
              <a:t> </a:t>
            </a:r>
            <a:r>
              <a:rPr lang="tr-TR" sz="2200" dirty="0" err="1"/>
              <a:t>LangChain</a:t>
            </a:r>
            <a:r>
              <a:rPr lang="tr-TR" sz="2200" dirty="0"/>
              <a:t> </a:t>
            </a:r>
            <a:r>
              <a:rPr lang="tr-TR" sz="2200" dirty="0" err="1"/>
              <a:t>to</a:t>
            </a:r>
            <a:r>
              <a:rPr lang="tr-TR" sz="2200" dirty="0"/>
              <a:t> </a:t>
            </a:r>
            <a:r>
              <a:rPr lang="tr-TR" sz="2200" dirty="0" err="1"/>
              <a:t>allow</a:t>
            </a:r>
            <a:r>
              <a:rPr lang="tr-TR" sz="2200" dirty="0"/>
              <a:t> </a:t>
            </a:r>
            <a:r>
              <a:rPr lang="tr-TR" sz="2200" dirty="0" err="1"/>
              <a:t>the</a:t>
            </a:r>
            <a:r>
              <a:rPr lang="tr-TR" sz="2200" dirty="0"/>
              <a:t> model </a:t>
            </a:r>
            <a:r>
              <a:rPr lang="tr-TR" sz="2200" dirty="0" err="1"/>
              <a:t>to</a:t>
            </a:r>
            <a:r>
              <a:rPr lang="tr-TR" sz="2200" dirty="0"/>
              <a:t> </a:t>
            </a:r>
            <a:r>
              <a:rPr lang="tr-TR" sz="2200" dirty="0" err="1"/>
              <a:t>auto-correct</a:t>
            </a:r>
            <a:r>
              <a:rPr lang="tr-TR" sz="2200" dirty="0"/>
              <a:t> </a:t>
            </a:r>
            <a:r>
              <a:rPr lang="tr-TR" sz="2200" dirty="0" err="1"/>
              <a:t>its</a:t>
            </a:r>
            <a:r>
              <a:rPr lang="tr-TR" sz="2200" dirty="0"/>
              <a:t> SQL </a:t>
            </a:r>
            <a:r>
              <a:rPr lang="tr-TR" sz="2200" dirty="0" err="1"/>
              <a:t>based</a:t>
            </a:r>
            <a:r>
              <a:rPr lang="tr-TR" sz="2200" dirty="0"/>
              <a:t> on </a:t>
            </a:r>
            <a:r>
              <a:rPr lang="tr-TR" sz="2200" dirty="0" err="1"/>
              <a:t>real</a:t>
            </a:r>
            <a:r>
              <a:rPr lang="tr-TR" sz="2200" dirty="0"/>
              <a:t>-time </a:t>
            </a:r>
            <a:r>
              <a:rPr lang="tr-TR" sz="2200" dirty="0" err="1"/>
              <a:t>execution</a:t>
            </a:r>
            <a:r>
              <a:rPr lang="tr-TR" sz="2200" dirty="0"/>
              <a:t> </a:t>
            </a:r>
            <a:r>
              <a:rPr lang="tr-TR" sz="2200" dirty="0" err="1"/>
              <a:t>errors</a:t>
            </a:r>
            <a:r>
              <a:rPr lang="tr-TR" sz="2200" dirty="0"/>
              <a:t>.</a:t>
            </a:r>
          </a:p>
          <a:p>
            <a:r>
              <a:rPr lang="tr-TR" sz="2200" b="1" dirty="0" err="1"/>
              <a:t>Stronger</a:t>
            </a:r>
            <a:r>
              <a:rPr lang="tr-TR" sz="2200" b="1" dirty="0"/>
              <a:t> Base </a:t>
            </a:r>
            <a:r>
              <a:rPr lang="tr-TR" sz="2200" b="1" dirty="0" err="1"/>
              <a:t>Models</a:t>
            </a:r>
            <a:r>
              <a:rPr lang="tr-TR" sz="2200" b="1" dirty="0"/>
              <a:t>: </a:t>
            </a:r>
            <a:r>
              <a:rPr lang="tr-TR" sz="2200" dirty="0" err="1"/>
              <a:t>Exploring</a:t>
            </a:r>
            <a:r>
              <a:rPr lang="tr-TR" sz="2200" dirty="0"/>
              <a:t> 14B </a:t>
            </a:r>
            <a:r>
              <a:rPr lang="tr-TR" sz="2200" dirty="0" err="1"/>
              <a:t>or</a:t>
            </a:r>
            <a:r>
              <a:rPr lang="tr-TR" sz="2200" dirty="0"/>
              <a:t> 32B </a:t>
            </a:r>
            <a:r>
              <a:rPr lang="tr-TR" sz="2200" dirty="0" err="1"/>
              <a:t>parameter</a:t>
            </a:r>
            <a:r>
              <a:rPr lang="tr-TR" sz="2200" dirty="0"/>
              <a:t> </a:t>
            </a:r>
            <a:r>
              <a:rPr lang="tr-TR" sz="2200" dirty="0" err="1"/>
              <a:t>open-weight</a:t>
            </a:r>
            <a:r>
              <a:rPr lang="tr-TR" sz="2200" dirty="0"/>
              <a:t> </a:t>
            </a:r>
            <a:r>
              <a:rPr lang="tr-TR" sz="2200" dirty="0" err="1"/>
              <a:t>models</a:t>
            </a:r>
            <a:r>
              <a:rPr lang="tr-TR" sz="2200" dirty="0"/>
              <a:t> </a:t>
            </a:r>
            <a:r>
              <a:rPr lang="tr-TR" sz="2200" dirty="0" err="1"/>
              <a:t>and</a:t>
            </a:r>
            <a:r>
              <a:rPr lang="tr-TR" sz="2200" dirty="0"/>
              <a:t> </a:t>
            </a:r>
            <a:r>
              <a:rPr lang="tr-TR" sz="2200" dirty="0" err="1"/>
              <a:t>faster</a:t>
            </a:r>
            <a:r>
              <a:rPr lang="tr-TR" sz="2200" dirty="0"/>
              <a:t> </a:t>
            </a:r>
            <a:r>
              <a:rPr lang="tr-TR" sz="2200" dirty="0" err="1"/>
              <a:t>strategies</a:t>
            </a:r>
            <a:r>
              <a:rPr lang="tr-TR" sz="2200" dirty="0"/>
              <a:t> </a:t>
            </a:r>
            <a:r>
              <a:rPr lang="tr-TR" sz="2200" dirty="0" err="1"/>
              <a:t>for</a:t>
            </a:r>
            <a:r>
              <a:rPr lang="tr-TR" sz="2200" dirty="0"/>
              <a:t> </a:t>
            </a:r>
            <a:r>
              <a:rPr lang="tr-TR" sz="2200" dirty="0" err="1"/>
              <a:t>even</a:t>
            </a:r>
            <a:r>
              <a:rPr lang="tr-TR" sz="2200" dirty="0"/>
              <a:t> </a:t>
            </a:r>
            <a:r>
              <a:rPr lang="tr-TR" sz="2200" dirty="0" err="1"/>
              <a:t>higher</a:t>
            </a:r>
            <a:r>
              <a:rPr lang="tr-TR" sz="2200" dirty="0"/>
              <a:t> </a:t>
            </a:r>
            <a:r>
              <a:rPr lang="tr-TR" sz="2200" dirty="0" err="1"/>
              <a:t>accuracy</a:t>
            </a:r>
            <a:r>
              <a:rPr lang="tr-TR" sz="2200" dirty="0"/>
              <a:t> on </a:t>
            </a:r>
            <a:r>
              <a:rPr lang="tr-TR" sz="2200" dirty="0" err="1"/>
              <a:t>complex</a:t>
            </a:r>
            <a:r>
              <a:rPr lang="tr-TR" sz="2200" dirty="0"/>
              <a:t> </a:t>
            </a:r>
            <a:r>
              <a:rPr lang="tr-TR" sz="2200" dirty="0" err="1"/>
              <a:t>schemas</a:t>
            </a:r>
            <a:r>
              <a:rPr lang="tr-TR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1335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979</TotalTime>
  <Words>326</Words>
  <Application>Microsoft Macintosh PowerPoint</Application>
  <PresentationFormat>Geniş ekran</PresentationFormat>
  <Paragraphs>39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Teması</vt:lpstr>
      <vt:lpstr>QueryMaster  End-to-End Text-to-SQL Agent</vt:lpstr>
      <vt:lpstr>Problem &amp; Motivation</vt:lpstr>
      <vt:lpstr>Methodology &amp; Tech Stack</vt:lpstr>
      <vt:lpstr>Evaluation Results</vt:lpstr>
      <vt:lpstr>PowerPoint Sunusu</vt:lpstr>
      <vt:lpstr>Live Demo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3</cp:revision>
  <dcterms:created xsi:type="dcterms:W3CDTF">2026-04-13T11:46:08Z</dcterms:created>
  <dcterms:modified xsi:type="dcterms:W3CDTF">2026-06-22T00:40:16Z</dcterms:modified>
</cp:coreProperties>
</file>